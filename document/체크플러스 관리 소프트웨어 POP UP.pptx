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34" autoAdjust="0"/>
    <p:restoredTop sz="94660"/>
  </p:normalViewPr>
  <p:slideViewPr>
    <p:cSldViewPr snapToGrid="0">
      <p:cViewPr>
        <p:scale>
          <a:sx n="50" d="100"/>
          <a:sy n="50" d="100"/>
        </p:scale>
        <p:origin x="197" y="14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CC12A-48B7-429E-86FF-BA82CA34AFF1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BCD50-BCD6-4EB7-AC55-B8D77D747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33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BCD50-BCD6-4EB7-AC55-B8D77D747C8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141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38DFD-4361-3D28-6130-F8E0C7C5F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AF614C-6176-B83A-A570-25E203C51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BAEC9-F314-FB33-AA48-B99A5539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24D96F-21EF-53DB-EF8A-93989085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C5BA62-DAA8-597E-AA02-2B90A03D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FE1D4-1384-124A-7622-3CD3E866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868379-8DFD-2AAD-76FA-36C1E85B6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DEC60-BE62-3995-2CDA-5FD5986E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60E43B-CF9F-21A7-F0CE-05C2ABAD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4ABFF1-B4DF-5C42-54F3-A0E537F6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91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137FB-CB64-C558-0ED1-8636C8C7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5B393-C86A-0B66-F91E-76820E27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2B749A-FC3F-B767-A3B7-5E2E3AA6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99CD2-5FB1-5BFB-A6D6-C15092F3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E5FAB0-2B3B-2A29-B448-364390B8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09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DC2DE-34B3-AD84-B4F2-25096E18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2272F-D4AB-E9BE-D999-746AAFA92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F60D90-2C61-588D-86BD-F3EFF34CA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05669B-1083-2431-7F78-E8B2E27A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578C41-2708-7F23-71D8-80B274F4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A9EF3D-9DC3-5530-B0A2-B8677551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35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37150-9FF5-C763-AB6A-97547DEE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DC1F22-91D9-5639-42A7-2A5E14E14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B9A8CC-4491-9057-DB6E-2B685CCDE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165B70-7F02-004C-D32F-5D24A7D0A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F3E4CB-A582-BDF5-0807-D179D2287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BFEA2A-C5DA-DAAC-509D-A8DC3499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C9F1F3-C61F-BEAF-6A6D-D83D8D1F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975756-17CC-947B-B0AE-A9A21A34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3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46D56-4D21-9CEC-904F-A38DFB8D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3A9C3A-D7BA-39BF-2AAA-B717B505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5DE837-5ECD-5C02-B567-8F9BAAE1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E3561E-48EB-D39A-0DCD-81EBD6C7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49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30D41-4993-1811-2F4B-9C00F109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EB5AA3-4084-8DFF-2794-66AC45C9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8C647F-DA14-A975-4615-1B4FCBDD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7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6D92C-C523-78DF-7FE2-0D58D7866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75D5E-A4F7-474B-BBF4-B8889589A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552902-EF28-81E5-F375-F4C1751F5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0079D8-F5C5-8DC0-8F0E-AE9AD074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632437-F2C1-BF6E-A3E3-D028C77C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43865-DFEE-91D1-D26D-4D48ACB5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11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7C989-88DE-0279-421D-72FCDA0C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415CD7-75B9-FF06-2429-A175AEAE4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03D117-A460-AA8E-3EE7-DE9446305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EE6599-7F9C-D3E5-3ACE-DC093482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FA26DE-7900-79F3-0B86-9A02E08E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A9D663-E7B3-40FC-3A5E-3DDC5C21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9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C23CF-14E2-D7D2-6A0D-422B2D63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9DD4C-BC20-B9D7-267E-9E28E741F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16F16-F646-1C20-0C46-8347125F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86DF2-E5A0-D312-117F-A076F5F3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218056-49C0-53F3-EA6C-A42383F3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17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4D7CB7-9374-A9AD-ABB1-6D90F1B5F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F4B71F-A3CC-700F-2F9C-E57BCB45F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3C5BB-972E-5528-DBA7-148B3962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917998-7794-FB4E-06F9-CC722664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30EF1-FD1E-786E-661A-E9FE7D2B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62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8901B4-24B8-A8B8-05F5-0C504E1B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B28BA1-1FD4-C21B-2348-B8614F003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033FC-FC42-72F5-2527-511A5E18B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09F75-5483-4170-AA6B-27A689BBAAAC}" type="datetimeFigureOut">
              <a:rPr lang="ko-KR" altLang="en-US" smtClean="0"/>
              <a:t>2025-08-23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EEE7C-6280-F9E8-51D1-E120FC376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38C71-0DC0-BFE6-A047-294AFEFBB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9A8D6-4BAC-451A-8CE0-008BD8AE1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06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/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제품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제품정보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체크플러스정보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72E3F8-C098-FD20-8991-D22FAA2E6955}"/>
              </a:ext>
            </a:extLst>
          </p:cNvPr>
          <p:cNvGraphicFramePr>
            <a:graphicFrameLocks noGrp="1"/>
          </p:cNvGraphicFramePr>
          <p:nvPr/>
        </p:nvGraphicFramePr>
        <p:xfrm>
          <a:off x="2506192" y="1315008"/>
          <a:ext cx="1157674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291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1687057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157674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351226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964122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986598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  <a:gridCol w="1328750">
                  <a:extLst>
                    <a:ext uri="{9D8B030D-6E8A-4147-A177-3AD203B41FA5}">
                      <a16:colId xmlns:a16="http://schemas.microsoft.com/office/drawing/2014/main" val="1390045964"/>
                    </a:ext>
                  </a:extLst>
                </a:gridCol>
                <a:gridCol w="1157674">
                  <a:extLst>
                    <a:ext uri="{9D8B030D-6E8A-4147-A177-3AD203B41FA5}">
                      <a16:colId xmlns:a16="http://schemas.microsoft.com/office/drawing/2014/main" val="3497139244"/>
                    </a:ext>
                  </a:extLst>
                </a:gridCol>
                <a:gridCol w="1157674">
                  <a:extLst>
                    <a:ext uri="{9D8B030D-6E8A-4147-A177-3AD203B41FA5}">
                      <a16:colId xmlns:a16="http://schemas.microsoft.com/office/drawing/2014/main" val="2483079938"/>
                    </a:ext>
                  </a:extLst>
                </a:gridCol>
                <a:gridCol w="1157674">
                  <a:extLst>
                    <a:ext uri="{9D8B030D-6E8A-4147-A177-3AD203B41FA5}">
                      <a16:colId xmlns:a16="http://schemas.microsoft.com/office/drawing/2014/main" val="79343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업체고유번호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담당자이름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담당자부서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담당자직책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핸드폰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이메일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371E33-C3FA-BDFB-A9ED-97B8C72F3A31}"/>
              </a:ext>
            </a:extLst>
          </p:cNvPr>
          <p:cNvSpPr txBox="1"/>
          <p:nvPr/>
        </p:nvSpPr>
        <p:spPr>
          <a:xfrm>
            <a:off x="2587616" y="624840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판매자 리스트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6616A3-14FE-819F-D32B-FAAF1C0B4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323606"/>
              </p:ext>
            </p:extLst>
          </p:nvPr>
        </p:nvGraphicFramePr>
        <p:xfrm>
          <a:off x="4689981" y="623332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32E915C-5570-4B9D-E913-68C57B6A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172" y="599173"/>
            <a:ext cx="116221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2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45566"/>
              </p:ext>
            </p:extLst>
          </p:nvPr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제품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제품정보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체크플러스정보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72E3F8-C098-FD20-8991-D22FAA2E6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97748"/>
              </p:ext>
            </p:extLst>
          </p:nvPr>
        </p:nvGraphicFramePr>
        <p:xfrm>
          <a:off x="2506192" y="1315008"/>
          <a:ext cx="940635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133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1622203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1634022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제품고유번호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제품명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모델종류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용접종류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*********1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HDE-CO2-001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현대일렉트릭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MTR(</a:t>
                      </a:r>
                      <a:r>
                        <a:rPr lang="ko-KR" altLang="en-US"/>
                        <a:t>기본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CO2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*********2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HDE-CO2-002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현대일렉트릭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MTR(</a:t>
                      </a:r>
                      <a:r>
                        <a:rPr lang="ko-KR" altLang="en-US"/>
                        <a:t>기본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CO2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*********3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LSM-SAW-001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LS</a:t>
                      </a:r>
                      <a:r>
                        <a:rPr lang="ko-KR" altLang="en-US"/>
                        <a:t>메탈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MTR(</a:t>
                      </a:r>
                      <a:r>
                        <a:rPr lang="ko-KR" altLang="en-US"/>
                        <a:t>기본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SAW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5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*********4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LSM-SAW-002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LS</a:t>
                      </a:r>
                      <a:r>
                        <a:rPr lang="ko-KR" altLang="en-US"/>
                        <a:t>메탈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MTR(</a:t>
                      </a:r>
                      <a:r>
                        <a:rPr lang="ko-KR" altLang="en-US"/>
                        <a:t>기본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SAW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091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C36BFE-FCD7-55F1-A99F-C6A5F2B87A35}"/>
              </a:ext>
            </a:extLst>
          </p:cNvPr>
          <p:cNvSpPr txBox="1"/>
          <p:nvPr/>
        </p:nvSpPr>
        <p:spPr>
          <a:xfrm>
            <a:off x="2506192" y="451150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제품정보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2390F31-95D8-4AEB-2E48-0A4061532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93128"/>
              </p:ext>
            </p:extLst>
          </p:nvPr>
        </p:nvGraphicFramePr>
        <p:xfrm>
          <a:off x="2490952" y="4646437"/>
          <a:ext cx="9406352" cy="1732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511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2114001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836012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551310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1712904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1511614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</a:tblGrid>
              <a:tr h="8176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부속장비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(</a:t>
                      </a:r>
                      <a:r>
                        <a:rPr lang="ko-KR" altLang="en-US"/>
                        <a:t>메모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커스터마이징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(</a:t>
                      </a:r>
                      <a:r>
                        <a:rPr lang="ko-KR" altLang="en-US"/>
                        <a:t>메모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AP_WIFI_ID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AP_WIFI_PW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4737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온도</a:t>
                      </a:r>
                      <a:r>
                        <a:rPr lang="en-US" altLang="ko-KR"/>
                        <a:t>:KHL1500-10V</a:t>
                      </a:r>
                    </a:p>
                    <a:p>
                      <a:pPr latinLnBrk="1"/>
                      <a:r>
                        <a:rPr lang="ko-KR" altLang="en-US"/>
                        <a:t>클램프</a:t>
                      </a:r>
                      <a:r>
                        <a:rPr lang="en-US" altLang="ko-KR"/>
                        <a:t>:</a:t>
                      </a:r>
                      <a:r>
                        <a:rPr lang="ko-KR" altLang="en-US"/>
                        <a:t>전류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전압</a:t>
                      </a:r>
                      <a:endParaRPr lang="en-US" altLang="ko-KR"/>
                    </a:p>
                    <a:p>
                      <a:pPr latinLnBrk="1"/>
                      <a:r>
                        <a:rPr lang="ko-KR" altLang="en-US"/>
                        <a:t>온도센서</a:t>
                      </a: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속도는 </a:t>
                      </a:r>
                      <a:r>
                        <a:rPr lang="en-US" altLang="ko-KR"/>
                        <a:t>FS:10V</a:t>
                      </a:r>
                      <a:r>
                        <a:rPr lang="ko-KR" altLang="en-US"/>
                        <a:t>를 </a:t>
                      </a:r>
                      <a:r>
                        <a:rPr lang="en-US" altLang="ko-KR"/>
                        <a:t>485</a:t>
                      </a:r>
                      <a:r>
                        <a:rPr lang="ko-KR" altLang="en-US"/>
                        <a:t>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Nesystemap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0317641642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유선방식</a:t>
                      </a:r>
                      <a:r>
                        <a:rPr lang="en-US" altLang="ko-KR"/>
                        <a:t>(Cat7)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CF48FED-7629-7395-197A-4A70589FC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071089"/>
              </p:ext>
            </p:extLst>
          </p:nvPr>
        </p:nvGraphicFramePr>
        <p:xfrm>
          <a:off x="2506192" y="3673256"/>
          <a:ext cx="3427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928">
                  <a:extLst>
                    <a:ext uri="{9D8B030D-6E8A-4147-A177-3AD203B41FA5}">
                      <a16:colId xmlns:a16="http://schemas.microsoft.com/office/drawing/2014/main" val="2096460924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909234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제품고유번호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제품명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85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*********3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LSM-SAW-001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26923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24F919D-CBD1-6980-DE59-789C64B25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216278"/>
              </p:ext>
            </p:extLst>
          </p:nvPr>
        </p:nvGraphicFramePr>
        <p:xfrm>
          <a:off x="2490952" y="6519681"/>
          <a:ext cx="9406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833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1765495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6990024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설치일자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설치장소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2024-07-18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부산시 </a:t>
                      </a:r>
                      <a:r>
                        <a:rPr lang="en-US" altLang="ko-KR"/>
                        <a:t>### ### ##### ( LS</a:t>
                      </a:r>
                      <a:r>
                        <a:rPr lang="ko-KR" altLang="en-US"/>
                        <a:t>메탈</a:t>
                      </a:r>
                      <a:r>
                        <a:rPr lang="en-US" altLang="ko-KR"/>
                        <a:t> 1</a:t>
                      </a:r>
                      <a:r>
                        <a:rPr lang="ko-KR" altLang="en-US"/>
                        <a:t>공장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2025-01-20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전라남도 </a:t>
                      </a:r>
                      <a:r>
                        <a:rPr lang="en-US" altLang="ko-KR"/>
                        <a:t>### ### ##### ( LS</a:t>
                      </a:r>
                      <a:r>
                        <a:rPr lang="ko-KR" altLang="en-US"/>
                        <a:t>메탈</a:t>
                      </a:r>
                      <a:r>
                        <a:rPr lang="en-US" altLang="ko-KR"/>
                        <a:t> 2</a:t>
                      </a:r>
                      <a:r>
                        <a:rPr lang="ko-KR" altLang="en-US"/>
                        <a:t>공장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5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09122"/>
                  </a:ext>
                </a:extLst>
              </a:tr>
            </a:tbl>
          </a:graphicData>
        </a:graphic>
      </p:graphicFrame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FA0F50C-F1B0-1E76-65DC-439F26DD7521}"/>
              </a:ext>
            </a:extLst>
          </p:cNvPr>
          <p:cNvCxnSpPr>
            <a:cxnSpLocks/>
          </p:cNvCxnSpPr>
          <p:nvPr/>
        </p:nvCxnSpPr>
        <p:spPr>
          <a:xfrm rot="5400000">
            <a:off x="2921072" y="3037912"/>
            <a:ext cx="1559560" cy="746616"/>
          </a:xfrm>
          <a:prstGeom prst="bentConnector3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ECB483-7C2C-EE86-9B8C-F6283613B748}"/>
              </a:ext>
            </a:extLst>
          </p:cNvPr>
          <p:cNvSpPr/>
          <p:nvPr/>
        </p:nvSpPr>
        <p:spPr>
          <a:xfrm>
            <a:off x="2370959" y="3596424"/>
            <a:ext cx="9775321" cy="502941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B00FA-23F3-5F9F-9ABD-CE76A9B140D0}"/>
              </a:ext>
            </a:extLst>
          </p:cNvPr>
          <p:cNvSpPr txBox="1"/>
          <p:nvPr/>
        </p:nvSpPr>
        <p:spPr>
          <a:xfrm>
            <a:off x="4191884" y="3241217"/>
            <a:ext cx="392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클릭 선택시에 아래 빨간칸 채워짐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F631D9-5310-1F27-FB71-41D97F7F0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532565"/>
              </p:ext>
            </p:extLst>
          </p:nvPr>
        </p:nvGraphicFramePr>
        <p:xfrm>
          <a:off x="3784544" y="490027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8A2E78A-1338-7198-D49C-6D2A909F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735" y="465868"/>
            <a:ext cx="116221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44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81974"/>
              </p:ext>
            </p:extLst>
          </p:nvPr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제품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제품정보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네트워크</a:t>
                      </a:r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체크플러스정보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72E3F8-C098-FD20-8991-D22FAA2E6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240049"/>
              </p:ext>
            </p:extLst>
          </p:nvPr>
        </p:nvGraphicFramePr>
        <p:xfrm>
          <a:off x="2529636" y="1361694"/>
          <a:ext cx="1197884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743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1318937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658636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1774277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1223608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  <a:gridCol w="1367985">
                  <a:extLst>
                    <a:ext uri="{9D8B030D-6E8A-4147-A177-3AD203B41FA5}">
                      <a16:colId xmlns:a16="http://schemas.microsoft.com/office/drawing/2014/main" val="2560484176"/>
                    </a:ext>
                  </a:extLst>
                </a:gridCol>
                <a:gridCol w="1367985">
                  <a:extLst>
                    <a:ext uri="{9D8B030D-6E8A-4147-A177-3AD203B41FA5}">
                      <a16:colId xmlns:a16="http://schemas.microsoft.com/office/drawing/2014/main" val="3374601828"/>
                    </a:ext>
                  </a:extLst>
                </a:gridCol>
                <a:gridCol w="1367985">
                  <a:extLst>
                    <a:ext uri="{9D8B030D-6E8A-4147-A177-3AD203B41FA5}">
                      <a16:colId xmlns:a16="http://schemas.microsoft.com/office/drawing/2014/main" val="1267866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공유기고유번호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거래번호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</a:t>
                      </a:r>
                      <a:r>
                        <a:rPr lang="en-US" altLang="ko-KR"/>
                        <a:t>AP_</a:t>
                      </a:r>
                      <a:r>
                        <a:rPr lang="ko-KR" altLang="en-US"/>
                        <a:t>모델명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AP_GATE_ID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AP_GATE_PW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AP_WIFI_ID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AP_WIFI_PW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*********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현대일렉트릭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#######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ORB-HSK80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nesysad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*********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현대일렉트릭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#######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ORB-HSK80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Nesysad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*********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LS</a:t>
                      </a:r>
                      <a:r>
                        <a:rPr lang="ko-KR" altLang="en-US"/>
                        <a:t>메탈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#######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IPTIME-SFQAG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Nesysad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5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091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C36BFE-FCD7-55F1-A99F-C6A5F2B87A35}"/>
              </a:ext>
            </a:extLst>
          </p:cNvPr>
          <p:cNvSpPr txBox="1"/>
          <p:nvPr/>
        </p:nvSpPr>
        <p:spPr>
          <a:xfrm>
            <a:off x="1881586" y="469008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네트워크</a:t>
            </a:r>
            <a:r>
              <a:rPr lang="en-US" altLang="ko-KR" b="1"/>
              <a:t>(WIFI)</a:t>
            </a:r>
            <a:endParaRPr lang="ko-KR" altLang="en-US" b="1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F631D9-5310-1F27-FB71-41D97F7F065F}"/>
              </a:ext>
            </a:extLst>
          </p:cNvPr>
          <p:cNvGraphicFramePr>
            <a:graphicFrameLocks noGrp="1"/>
          </p:cNvGraphicFramePr>
          <p:nvPr/>
        </p:nvGraphicFramePr>
        <p:xfrm>
          <a:off x="3784544" y="490027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8A2E78A-1338-7198-D49C-6D2A909F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735" y="465868"/>
            <a:ext cx="116221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9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48719"/>
              </p:ext>
            </p:extLst>
          </p:nvPr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제품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제품정보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0">
                          <a:solidFill>
                            <a:schemeClr val="bg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네트워크</a:t>
                      </a:r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거래정보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체크플러스정보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72E3F8-C098-FD20-8991-D22FAA2E6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342627"/>
              </p:ext>
            </p:extLst>
          </p:nvPr>
        </p:nvGraphicFramePr>
        <p:xfrm>
          <a:off x="2529637" y="1361694"/>
          <a:ext cx="15758363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108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1374819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367630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250119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1293983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2174876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  <a:gridCol w="1425945">
                  <a:extLst>
                    <a:ext uri="{9D8B030D-6E8A-4147-A177-3AD203B41FA5}">
                      <a16:colId xmlns:a16="http://schemas.microsoft.com/office/drawing/2014/main" val="2560484176"/>
                    </a:ext>
                  </a:extLst>
                </a:gridCol>
                <a:gridCol w="1470934">
                  <a:extLst>
                    <a:ext uri="{9D8B030D-6E8A-4147-A177-3AD203B41FA5}">
                      <a16:colId xmlns:a16="http://schemas.microsoft.com/office/drawing/2014/main" val="3374601828"/>
                    </a:ext>
                  </a:extLst>
                </a:gridCol>
                <a:gridCol w="1140459">
                  <a:extLst>
                    <a:ext uri="{9D8B030D-6E8A-4147-A177-3AD203B41FA5}">
                      <a16:colId xmlns:a16="http://schemas.microsoft.com/office/drawing/2014/main" val="1267866928"/>
                    </a:ext>
                  </a:extLst>
                </a:gridCol>
                <a:gridCol w="1197482">
                  <a:extLst>
                    <a:ext uri="{9D8B030D-6E8A-4147-A177-3AD203B41FA5}">
                      <a16:colId xmlns:a16="http://schemas.microsoft.com/office/drawing/2014/main" val="2201271836"/>
                    </a:ext>
                  </a:extLst>
                </a:gridCol>
                <a:gridCol w="1111948">
                  <a:extLst>
                    <a:ext uri="{9D8B030D-6E8A-4147-A177-3AD203B41FA5}">
                      <a16:colId xmlns:a16="http://schemas.microsoft.com/office/drawing/2014/main" val="3828308794"/>
                    </a:ext>
                  </a:extLst>
                </a:gridCol>
                <a:gridCol w="1203060">
                  <a:extLst>
                    <a:ext uri="{9D8B030D-6E8A-4147-A177-3AD203B41FA5}">
                      <a16:colId xmlns:a16="http://schemas.microsoft.com/office/drawing/2014/main" val="3247156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라우터고유번호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거래번호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</a:t>
                      </a:r>
                      <a:r>
                        <a:rPr lang="ko-KR" altLang="en-US"/>
                        <a:t>모델명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</a:t>
                      </a:r>
                      <a:r>
                        <a:rPr lang="ko-KR" altLang="en-US"/>
                        <a:t>단말기일련번호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</a:t>
                      </a:r>
                      <a:r>
                        <a:rPr lang="ko-KR" altLang="en-US"/>
                        <a:t>유심일련번호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</a:t>
                      </a:r>
                      <a:r>
                        <a:rPr lang="ko-KR" altLang="en-US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LTE_GATE_ID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LTE_GATE_PW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LTE_WIFI_ID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LTE_WIFI_PW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5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091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C36BFE-FCD7-55F1-A99F-C6A5F2B87A35}"/>
              </a:ext>
            </a:extLst>
          </p:cNvPr>
          <p:cNvSpPr txBox="1"/>
          <p:nvPr/>
        </p:nvSpPr>
        <p:spPr>
          <a:xfrm>
            <a:off x="1881586" y="469008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네트워크</a:t>
            </a:r>
            <a:r>
              <a:rPr lang="en-US" altLang="ko-KR" b="1"/>
              <a:t>(LTE)</a:t>
            </a:r>
            <a:endParaRPr lang="ko-KR" altLang="en-US" b="1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F631D9-5310-1F27-FB71-41D97F7F065F}"/>
              </a:ext>
            </a:extLst>
          </p:cNvPr>
          <p:cNvGraphicFramePr>
            <a:graphicFrameLocks noGrp="1"/>
          </p:cNvGraphicFramePr>
          <p:nvPr/>
        </p:nvGraphicFramePr>
        <p:xfrm>
          <a:off x="3784544" y="490027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8A2E78A-1338-7198-D49C-6D2A909F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735" y="465868"/>
            <a:ext cx="116221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0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33862"/>
              </p:ext>
            </p:extLst>
          </p:nvPr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제품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제품정보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0">
                          <a:solidFill>
                            <a:schemeClr val="bg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거래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거래정보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체크플러스정보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72E3F8-C098-FD20-8991-D22FAA2E6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184547"/>
              </p:ext>
            </p:extLst>
          </p:nvPr>
        </p:nvGraphicFramePr>
        <p:xfrm>
          <a:off x="2529637" y="1361694"/>
          <a:ext cx="938290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995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1724448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582280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2158945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거래고유번호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계약일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납품일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사용시작일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C36BFE-FCD7-55F1-A99F-C6A5F2B87A35}"/>
              </a:ext>
            </a:extLst>
          </p:cNvPr>
          <p:cNvSpPr txBox="1"/>
          <p:nvPr/>
        </p:nvSpPr>
        <p:spPr>
          <a:xfrm>
            <a:off x="1881586" y="469008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거래정보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F631D9-5310-1F27-FB71-41D97F7F065F}"/>
              </a:ext>
            </a:extLst>
          </p:cNvPr>
          <p:cNvGraphicFramePr>
            <a:graphicFrameLocks noGrp="1"/>
          </p:cNvGraphicFramePr>
          <p:nvPr/>
        </p:nvGraphicFramePr>
        <p:xfrm>
          <a:off x="3784544" y="490027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8A2E78A-1338-7198-D49C-6D2A909F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735" y="465868"/>
            <a:ext cx="1162212" cy="419158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2AC1DA5-6A5C-27F4-2943-8469D47C4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45916"/>
              </p:ext>
            </p:extLst>
          </p:nvPr>
        </p:nvGraphicFramePr>
        <p:xfrm>
          <a:off x="2529637" y="2992488"/>
          <a:ext cx="10426192" cy="190903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475397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  <a:gridCol w="1737699">
                  <a:extLst>
                    <a:ext uri="{9D8B030D-6E8A-4147-A177-3AD203B41FA5}">
                      <a16:colId xmlns:a16="http://schemas.microsoft.com/office/drawing/2014/main" val="1498892917"/>
                    </a:ext>
                  </a:extLst>
                </a:gridCol>
                <a:gridCol w="1737699">
                  <a:extLst>
                    <a:ext uri="{9D8B030D-6E8A-4147-A177-3AD203B41FA5}">
                      <a16:colId xmlns:a16="http://schemas.microsoft.com/office/drawing/2014/main" val="2400974273"/>
                    </a:ext>
                  </a:extLst>
                </a:gridCol>
                <a:gridCol w="3475397">
                  <a:extLst>
                    <a:ext uri="{9D8B030D-6E8A-4147-A177-3AD203B41FA5}">
                      <a16:colId xmlns:a16="http://schemas.microsoft.com/office/drawing/2014/main" val="390189613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거래 기초정보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거래고유번호</a:t>
                      </a: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판매처 담당자</a:t>
                      </a: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430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계약일 </a:t>
                      </a:r>
                      <a:r>
                        <a:rPr lang="en-US" altLang="ko-KR"/>
                        <a:t>[</a:t>
                      </a:r>
                      <a:r>
                        <a:rPr lang="ko-KR" altLang="en-US"/>
                        <a:t>발주일</a:t>
                      </a:r>
                      <a:r>
                        <a:rPr lang="en-US" altLang="ko-KR"/>
                        <a:t>]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납품일 </a:t>
                      </a:r>
                      <a:r>
                        <a:rPr lang="en-US" altLang="ko-KR"/>
                        <a:t>[HW</a:t>
                      </a:r>
                      <a:r>
                        <a:rPr lang="ko-KR" altLang="en-US"/>
                        <a:t>설치일</a:t>
                      </a:r>
                      <a:r>
                        <a:rPr lang="en-US" altLang="ko-KR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사용시작일 </a:t>
                      </a:r>
                      <a:r>
                        <a:rPr lang="en-US" altLang="ko-KR"/>
                        <a:t>[SW</a:t>
                      </a:r>
                      <a:r>
                        <a:rPr lang="ko-KR" altLang="en-US"/>
                        <a:t>설치일</a:t>
                      </a:r>
                      <a:r>
                        <a:rPr lang="en-US" altLang="ko-KR"/>
                        <a:t>]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3713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체크플러스 </a:t>
                      </a:r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체크플러스 </a:t>
                      </a:r>
                      <a:r>
                        <a:rPr lang="en-US" altLang="ko-KR"/>
                        <a:t>PW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95640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DB59A3B-FA7C-E215-7421-E1A2B1558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38865"/>
              </p:ext>
            </p:extLst>
          </p:nvPr>
        </p:nvGraphicFramePr>
        <p:xfrm>
          <a:off x="2529637" y="5138336"/>
          <a:ext cx="10426189" cy="1478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6617">
                  <a:extLst>
                    <a:ext uri="{9D8B030D-6E8A-4147-A177-3AD203B41FA5}">
                      <a16:colId xmlns:a16="http://schemas.microsoft.com/office/drawing/2014/main" val="819424172"/>
                    </a:ext>
                  </a:extLst>
                </a:gridCol>
                <a:gridCol w="1088020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  <a:gridCol w="1770927">
                  <a:extLst>
                    <a:ext uri="{9D8B030D-6E8A-4147-A177-3AD203B41FA5}">
                      <a16:colId xmlns:a16="http://schemas.microsoft.com/office/drawing/2014/main" val="2400974273"/>
                    </a:ext>
                  </a:extLst>
                </a:gridCol>
                <a:gridCol w="1041721">
                  <a:extLst>
                    <a:ext uri="{9D8B030D-6E8A-4147-A177-3AD203B41FA5}">
                      <a16:colId xmlns:a16="http://schemas.microsoft.com/office/drawing/2014/main" val="3096233628"/>
                    </a:ext>
                  </a:extLst>
                </a:gridCol>
                <a:gridCol w="1215342">
                  <a:extLst>
                    <a:ext uri="{9D8B030D-6E8A-4147-A177-3AD203B41FA5}">
                      <a16:colId xmlns:a16="http://schemas.microsoft.com/office/drawing/2014/main" val="3020440951"/>
                    </a:ext>
                  </a:extLst>
                </a:gridCol>
                <a:gridCol w="1759352">
                  <a:extLst>
                    <a:ext uri="{9D8B030D-6E8A-4147-A177-3AD203B41FA5}">
                      <a16:colId xmlns:a16="http://schemas.microsoft.com/office/drawing/2014/main" val="2477751750"/>
                    </a:ext>
                  </a:extLst>
                </a:gridCol>
                <a:gridCol w="3034210">
                  <a:extLst>
                    <a:ext uri="{9D8B030D-6E8A-4147-A177-3AD203B41FA5}">
                      <a16:colId xmlns:a16="http://schemas.microsoft.com/office/drawing/2014/main" val="958404154"/>
                    </a:ext>
                  </a:extLst>
                </a:gridCol>
              </a:tblGrid>
              <a:tr h="0">
                <a:tc gridSpan="7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하드웨어 정보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용접종류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모델종류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판매수량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판매단가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판매금액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제품번호</a:t>
                      </a:r>
                      <a:endParaRPr lang="en-US" altLang="ko-K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Monitor(</a:t>
                      </a:r>
                      <a:r>
                        <a:rPr lang="ko-KR" altLang="en-US" sz="1600"/>
                        <a:t>일반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3,500,000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10,500,000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HDE-CO2-001 ~ 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SAW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Monitor(</a:t>
                      </a:r>
                      <a:r>
                        <a:rPr lang="ko-KR" altLang="en-US" sz="1600"/>
                        <a:t>커스텀</a:t>
                      </a:r>
                      <a:r>
                        <a:rPr lang="en-US" altLang="ko-KR" sz="1600"/>
                        <a:t>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4,500,000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9,000,000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HDE-SAW-001, 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92635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C985831-BB60-0C6F-A526-ECDA9876D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521768"/>
              </p:ext>
            </p:extLst>
          </p:nvPr>
        </p:nvGraphicFramePr>
        <p:xfrm>
          <a:off x="2529637" y="6830291"/>
          <a:ext cx="10426190" cy="18726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6617">
                  <a:extLst>
                    <a:ext uri="{9D8B030D-6E8A-4147-A177-3AD203B41FA5}">
                      <a16:colId xmlns:a16="http://schemas.microsoft.com/office/drawing/2014/main" val="819424172"/>
                    </a:ext>
                  </a:extLst>
                </a:gridCol>
                <a:gridCol w="1088020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  <a:gridCol w="1076446">
                  <a:extLst>
                    <a:ext uri="{9D8B030D-6E8A-4147-A177-3AD203B41FA5}">
                      <a16:colId xmlns:a16="http://schemas.microsoft.com/office/drawing/2014/main" val="2400974273"/>
                    </a:ext>
                  </a:extLst>
                </a:gridCol>
                <a:gridCol w="1203767">
                  <a:extLst>
                    <a:ext uri="{9D8B030D-6E8A-4147-A177-3AD203B41FA5}">
                      <a16:colId xmlns:a16="http://schemas.microsoft.com/office/drawing/2014/main" val="3096233628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3020440951"/>
                    </a:ext>
                  </a:extLst>
                </a:gridCol>
                <a:gridCol w="1284790">
                  <a:extLst>
                    <a:ext uri="{9D8B030D-6E8A-4147-A177-3AD203B41FA5}">
                      <a16:colId xmlns:a16="http://schemas.microsoft.com/office/drawing/2014/main" val="958404154"/>
                    </a:ext>
                  </a:extLst>
                </a:gridCol>
                <a:gridCol w="1134319">
                  <a:extLst>
                    <a:ext uri="{9D8B030D-6E8A-4147-A177-3AD203B41FA5}">
                      <a16:colId xmlns:a16="http://schemas.microsoft.com/office/drawing/2014/main" val="2609440463"/>
                    </a:ext>
                  </a:extLst>
                </a:gridCol>
                <a:gridCol w="1145893">
                  <a:extLst>
                    <a:ext uri="{9D8B030D-6E8A-4147-A177-3AD203B41FA5}">
                      <a16:colId xmlns:a16="http://schemas.microsoft.com/office/drawing/2014/main" val="35163925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75160113"/>
                    </a:ext>
                  </a:extLst>
                </a:gridCol>
                <a:gridCol w="638252">
                  <a:extLst>
                    <a:ext uri="{9D8B030D-6E8A-4147-A177-3AD203B41FA5}">
                      <a16:colId xmlns:a16="http://schemas.microsoft.com/office/drawing/2014/main" val="340848552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소프트웨어 정보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714435"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용접종류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판매수량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SW</a:t>
                      </a:r>
                      <a:r>
                        <a:rPr lang="ko-KR" altLang="en-US" sz="1600"/>
                        <a:t>사용</a:t>
                      </a:r>
                      <a:endParaRPr lang="en-US" altLang="ko-KR" sz="16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단가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사용시작일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사용종료일</a:t>
                      </a:r>
                      <a:endParaRPr lang="en-US" altLang="ko-KR" sz="16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예정일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사용개월</a:t>
                      </a:r>
                      <a:endParaRPr lang="en-US" altLang="ko-KR" sz="16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개월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사용금액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사용중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비고</a:t>
                      </a:r>
                      <a:endParaRPr lang="en-US" altLang="ko-K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2027-08-14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1,260,000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/>
                        <a:t>☑</a:t>
                      </a:r>
                      <a:endParaRPr lang="en-US" altLang="ko-KR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SAW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2027-08-14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/>
                        <a:t>☑</a:t>
                      </a:r>
                      <a:endParaRPr lang="en-US" altLang="ko-KR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92635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8ABDE8D-CF2D-6094-0380-80CE6C250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50319"/>
              </p:ext>
            </p:extLst>
          </p:nvPr>
        </p:nvGraphicFramePr>
        <p:xfrm>
          <a:off x="2528622" y="8916641"/>
          <a:ext cx="10426189" cy="1107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6617">
                  <a:extLst>
                    <a:ext uri="{9D8B030D-6E8A-4147-A177-3AD203B41FA5}">
                      <a16:colId xmlns:a16="http://schemas.microsoft.com/office/drawing/2014/main" val="819424172"/>
                    </a:ext>
                  </a:extLst>
                </a:gridCol>
                <a:gridCol w="1424701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  <a:gridCol w="1597306">
                  <a:extLst>
                    <a:ext uri="{9D8B030D-6E8A-4147-A177-3AD203B41FA5}">
                      <a16:colId xmlns:a16="http://schemas.microsoft.com/office/drawing/2014/main" val="2400974273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3096233628"/>
                    </a:ext>
                  </a:extLst>
                </a:gridCol>
                <a:gridCol w="902826">
                  <a:extLst>
                    <a:ext uri="{9D8B030D-6E8A-4147-A177-3AD203B41FA5}">
                      <a16:colId xmlns:a16="http://schemas.microsoft.com/office/drawing/2014/main" val="3020440951"/>
                    </a:ext>
                  </a:extLst>
                </a:gridCol>
                <a:gridCol w="1226916">
                  <a:extLst>
                    <a:ext uri="{9D8B030D-6E8A-4147-A177-3AD203B41FA5}">
                      <a16:colId xmlns:a16="http://schemas.microsoft.com/office/drawing/2014/main" val="2477751750"/>
                    </a:ext>
                  </a:extLst>
                </a:gridCol>
                <a:gridCol w="1234842">
                  <a:extLst>
                    <a:ext uri="{9D8B030D-6E8A-4147-A177-3AD203B41FA5}">
                      <a16:colId xmlns:a16="http://schemas.microsoft.com/office/drawing/2014/main" val="958404154"/>
                    </a:ext>
                  </a:extLst>
                </a:gridCol>
                <a:gridCol w="1234843">
                  <a:extLst>
                    <a:ext uri="{9D8B030D-6E8A-4147-A177-3AD203B41FA5}">
                      <a16:colId xmlns:a16="http://schemas.microsoft.com/office/drawing/2014/main" val="3376547912"/>
                    </a:ext>
                  </a:extLst>
                </a:gridCol>
                <a:gridCol w="1234842">
                  <a:extLst>
                    <a:ext uri="{9D8B030D-6E8A-4147-A177-3AD203B41FA5}">
                      <a16:colId xmlns:a16="http://schemas.microsoft.com/office/drawing/2014/main" val="4091012720"/>
                    </a:ext>
                  </a:extLst>
                </a:gridCol>
              </a:tblGrid>
              <a:tr h="0">
                <a:tc gridSpan="9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네트워크정보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체크플러스</a:t>
                      </a:r>
                      <a:r>
                        <a:rPr lang="en-US" altLang="ko-KR"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체크플러스</a:t>
                      </a:r>
                      <a:r>
                        <a:rPr lang="en-US" altLang="ko-KR" sz="1600"/>
                        <a:t>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AP </a:t>
                      </a:r>
                      <a:r>
                        <a:rPr lang="ko-KR" altLang="en-US" sz="1600"/>
                        <a:t>수량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WIFI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WIFI 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LTE </a:t>
                      </a:r>
                      <a:r>
                        <a:rPr lang="ko-KR" altLang="en-US" sz="1600"/>
                        <a:t>수량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LTE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LTE PW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D5FE200-8495-6178-3405-17AEAF443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09118"/>
              </p:ext>
            </p:extLst>
          </p:nvPr>
        </p:nvGraphicFramePr>
        <p:xfrm>
          <a:off x="2528621" y="10268668"/>
          <a:ext cx="10426189" cy="10871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26189">
                  <a:extLst>
                    <a:ext uri="{9D8B030D-6E8A-4147-A177-3AD203B41FA5}">
                      <a16:colId xmlns:a16="http://schemas.microsoft.com/office/drawing/2014/main" val="819424172"/>
                    </a:ext>
                  </a:extLst>
                </a:gridCol>
              </a:tblGrid>
              <a:tr h="5398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547299"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850EE0-F521-CD9E-540C-5A223F012674}"/>
              </a:ext>
            </a:extLst>
          </p:cNvPr>
          <p:cNvSpPr/>
          <p:nvPr/>
        </p:nvSpPr>
        <p:spPr>
          <a:xfrm>
            <a:off x="2376432" y="2737212"/>
            <a:ext cx="10895945" cy="879946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321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081610"/>
              </p:ext>
            </p:extLst>
          </p:nvPr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제품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제품정보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0">
                          <a:solidFill>
                            <a:schemeClr val="bg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거래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거래정보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체크플러스정보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세금계산서정보</a:t>
                      </a:r>
                      <a:endParaRPr lang="en-US" altLang="ko-KR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72E3F8-C098-FD20-8991-D22FAA2E6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66170"/>
              </p:ext>
            </p:extLst>
          </p:nvPr>
        </p:nvGraphicFramePr>
        <p:xfrm>
          <a:off x="2529637" y="1361694"/>
          <a:ext cx="11420824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230">
                  <a:extLst>
                    <a:ext uri="{9D8B030D-6E8A-4147-A177-3AD203B41FA5}">
                      <a16:colId xmlns:a16="http://schemas.microsoft.com/office/drawing/2014/main" val="2143405325"/>
                    </a:ext>
                  </a:extLst>
                </a:gridCol>
                <a:gridCol w="2343186">
                  <a:extLst>
                    <a:ext uri="{9D8B030D-6E8A-4147-A177-3AD203B41FA5}">
                      <a16:colId xmlns:a16="http://schemas.microsoft.com/office/drawing/2014/main" val="771957879"/>
                    </a:ext>
                  </a:extLst>
                </a:gridCol>
                <a:gridCol w="1182053">
                  <a:extLst>
                    <a:ext uri="{9D8B030D-6E8A-4147-A177-3AD203B41FA5}">
                      <a16:colId xmlns:a16="http://schemas.microsoft.com/office/drawing/2014/main" val="437177365"/>
                    </a:ext>
                  </a:extLst>
                </a:gridCol>
                <a:gridCol w="1663243">
                  <a:extLst>
                    <a:ext uri="{9D8B030D-6E8A-4147-A177-3AD203B41FA5}">
                      <a16:colId xmlns:a16="http://schemas.microsoft.com/office/drawing/2014/main" val="1486373734"/>
                    </a:ext>
                  </a:extLst>
                </a:gridCol>
                <a:gridCol w="1778310">
                  <a:extLst>
                    <a:ext uri="{9D8B030D-6E8A-4147-A177-3AD203B41FA5}">
                      <a16:colId xmlns:a16="http://schemas.microsoft.com/office/drawing/2014/main" val="2358432775"/>
                    </a:ext>
                  </a:extLst>
                </a:gridCol>
                <a:gridCol w="1897401">
                  <a:extLst>
                    <a:ext uri="{9D8B030D-6E8A-4147-A177-3AD203B41FA5}">
                      <a16:colId xmlns:a16="http://schemas.microsoft.com/office/drawing/2014/main" val="362674651"/>
                    </a:ext>
                  </a:extLst>
                </a:gridCol>
                <a:gridCol w="1897401">
                  <a:extLst>
                    <a:ext uri="{9D8B030D-6E8A-4147-A177-3AD203B41FA5}">
                      <a16:colId xmlns:a16="http://schemas.microsoft.com/office/drawing/2014/main" val="3871324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체크플러스고유번호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거래고유번호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체크플러스</a:t>
                      </a:r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체크플러스</a:t>
                      </a:r>
                      <a:r>
                        <a:rPr lang="en-US" altLang="ko-KR"/>
                        <a:t>PW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비고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체크플러스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3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C36BFE-FCD7-55F1-A99F-C6A5F2B87A35}"/>
              </a:ext>
            </a:extLst>
          </p:cNvPr>
          <p:cNvSpPr txBox="1"/>
          <p:nvPr/>
        </p:nvSpPr>
        <p:spPr>
          <a:xfrm>
            <a:off x="1607266" y="469008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체크플러스 정보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F631D9-5310-1F27-FB71-41D97F7F065F}"/>
              </a:ext>
            </a:extLst>
          </p:cNvPr>
          <p:cNvGraphicFramePr>
            <a:graphicFrameLocks noGrp="1"/>
          </p:cNvGraphicFramePr>
          <p:nvPr/>
        </p:nvGraphicFramePr>
        <p:xfrm>
          <a:off x="3784544" y="490027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8A2E78A-1338-7198-D49C-6D2A909F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735" y="465868"/>
            <a:ext cx="116221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13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35B9C3-A49D-BD5A-B57F-10DBBD3E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999568"/>
              </p:ext>
            </p:extLst>
          </p:nvPr>
        </p:nvGraphicFramePr>
        <p:xfrm>
          <a:off x="279455" y="1315008"/>
          <a:ext cx="2015304" cy="47164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304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</a:tblGrid>
              <a:tr h="887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거래처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판매자정보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1647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제품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제품정보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0">
                          <a:solidFill>
                            <a:schemeClr val="bg1"/>
                          </a:solidFill>
                        </a:rPr>
                        <a:t>(WIFI)</a:t>
                      </a:r>
                    </a:p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네트워크</a:t>
                      </a:r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(LTE)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12673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거래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거래정보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b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</a:rPr>
                        <a:t>체크플러스정보</a:t>
                      </a:r>
                      <a:endParaRPr lang="en-US" altLang="ko-KR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513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세금계산서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세금계산서정보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90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C36BFE-FCD7-55F1-A99F-C6A5F2B87A35}"/>
              </a:ext>
            </a:extLst>
          </p:cNvPr>
          <p:cNvSpPr txBox="1"/>
          <p:nvPr/>
        </p:nvSpPr>
        <p:spPr>
          <a:xfrm>
            <a:off x="1607266" y="469008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세금계산서정보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F631D9-5310-1F27-FB71-41D97F7F065F}"/>
              </a:ext>
            </a:extLst>
          </p:cNvPr>
          <p:cNvGraphicFramePr>
            <a:graphicFrameLocks noGrp="1"/>
          </p:cNvGraphicFramePr>
          <p:nvPr/>
        </p:nvGraphicFramePr>
        <p:xfrm>
          <a:off x="3784544" y="490027"/>
          <a:ext cx="37493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560">
                  <a:extLst>
                    <a:ext uri="{9D8B030D-6E8A-4147-A177-3AD203B41FA5}">
                      <a16:colId xmlns:a16="http://schemas.microsoft.com/office/drawing/2014/main" val="1346525303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7100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판매업체명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56029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8A2E78A-1338-7198-D49C-6D2A909F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735" y="465868"/>
            <a:ext cx="1162212" cy="41915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9B8F4A3-FF0C-9723-40D8-3CE587F9D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838244"/>
              </p:ext>
            </p:extLst>
          </p:nvPr>
        </p:nvGraphicFramePr>
        <p:xfrm>
          <a:off x="2474606" y="1315008"/>
          <a:ext cx="15996573" cy="263975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9603">
                  <a:extLst>
                    <a:ext uri="{9D8B030D-6E8A-4147-A177-3AD203B41FA5}">
                      <a16:colId xmlns:a16="http://schemas.microsoft.com/office/drawing/2014/main" val="819424172"/>
                    </a:ext>
                  </a:extLst>
                </a:gridCol>
                <a:gridCol w="1365595">
                  <a:extLst>
                    <a:ext uri="{9D8B030D-6E8A-4147-A177-3AD203B41FA5}">
                      <a16:colId xmlns:a16="http://schemas.microsoft.com/office/drawing/2014/main" val="2351902372"/>
                    </a:ext>
                  </a:extLst>
                </a:gridCol>
                <a:gridCol w="1365595">
                  <a:extLst>
                    <a:ext uri="{9D8B030D-6E8A-4147-A177-3AD203B41FA5}">
                      <a16:colId xmlns:a16="http://schemas.microsoft.com/office/drawing/2014/main" val="2017719682"/>
                    </a:ext>
                  </a:extLst>
                </a:gridCol>
                <a:gridCol w="1857261">
                  <a:extLst>
                    <a:ext uri="{9D8B030D-6E8A-4147-A177-3AD203B41FA5}">
                      <a16:colId xmlns:a16="http://schemas.microsoft.com/office/drawing/2014/main" val="2400974273"/>
                    </a:ext>
                  </a:extLst>
                </a:gridCol>
                <a:gridCol w="1603997">
                  <a:extLst>
                    <a:ext uri="{9D8B030D-6E8A-4147-A177-3AD203B41FA5}">
                      <a16:colId xmlns:a16="http://schemas.microsoft.com/office/drawing/2014/main" val="3096233628"/>
                    </a:ext>
                  </a:extLst>
                </a:gridCol>
                <a:gridCol w="1374856">
                  <a:extLst>
                    <a:ext uri="{9D8B030D-6E8A-4147-A177-3AD203B41FA5}">
                      <a16:colId xmlns:a16="http://schemas.microsoft.com/office/drawing/2014/main" val="4163824145"/>
                    </a:ext>
                  </a:extLst>
                </a:gridCol>
                <a:gridCol w="1603998">
                  <a:extLst>
                    <a:ext uri="{9D8B030D-6E8A-4147-A177-3AD203B41FA5}">
                      <a16:colId xmlns:a16="http://schemas.microsoft.com/office/drawing/2014/main" val="3020440951"/>
                    </a:ext>
                  </a:extLst>
                </a:gridCol>
                <a:gridCol w="1338675">
                  <a:extLst>
                    <a:ext uri="{9D8B030D-6E8A-4147-A177-3AD203B41FA5}">
                      <a16:colId xmlns:a16="http://schemas.microsoft.com/office/drawing/2014/main" val="958404154"/>
                    </a:ext>
                  </a:extLst>
                </a:gridCol>
                <a:gridCol w="1748720">
                  <a:extLst>
                    <a:ext uri="{9D8B030D-6E8A-4147-A177-3AD203B41FA5}">
                      <a16:colId xmlns:a16="http://schemas.microsoft.com/office/drawing/2014/main" val="2926188159"/>
                    </a:ext>
                  </a:extLst>
                </a:gridCol>
                <a:gridCol w="1724600">
                  <a:extLst>
                    <a:ext uri="{9D8B030D-6E8A-4147-A177-3AD203B41FA5}">
                      <a16:colId xmlns:a16="http://schemas.microsoft.com/office/drawing/2014/main" val="2609440463"/>
                    </a:ext>
                  </a:extLst>
                </a:gridCol>
                <a:gridCol w="1453673">
                  <a:extLst>
                    <a:ext uri="{9D8B030D-6E8A-4147-A177-3AD203B41FA5}">
                      <a16:colId xmlns:a16="http://schemas.microsoft.com/office/drawing/2014/main" val="3516392558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세금계산서 정보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86722"/>
                  </a:ext>
                </a:extLst>
              </a:tr>
              <a:tr h="7144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세금계산서 번호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판매업체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세금계산서 종류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계산서 발행일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거래번호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SW</a:t>
                      </a:r>
                      <a:r>
                        <a:rPr lang="ko-KR" altLang="en-US" sz="1600"/>
                        <a:t>사용료</a:t>
                      </a:r>
                      <a:endParaRPr lang="en-US" altLang="ko-KR" sz="16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사용시작일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SW</a:t>
                      </a:r>
                      <a:r>
                        <a:rPr lang="ko-KR" altLang="en-US" sz="1600"/>
                        <a:t>사용료</a:t>
                      </a:r>
                      <a:endParaRPr lang="en-US" altLang="ko-KR" sz="16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사용종료일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계산서발행금액 </a:t>
                      </a:r>
                      <a:r>
                        <a:rPr lang="en-US" altLang="ko-KR" sz="1600"/>
                        <a:t>(VAT</a:t>
                      </a:r>
                      <a:r>
                        <a:rPr lang="ko-KR" altLang="en-US" sz="1600"/>
                        <a:t>별도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입금완료일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비고</a:t>
                      </a:r>
                      <a:endParaRPr lang="en-US" altLang="ko-K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0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******172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하드웨어용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*****235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2024-06-15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2025-06-14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******172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프로그램사용료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*****235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2024-06-15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2025-06-14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1,260,000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9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******189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프로그램사용료</a:t>
                      </a: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2025-05-30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*****178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2025-06-15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2026-06-14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1,260,000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2025-06-30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04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402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00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615</Words>
  <Application>Microsoft Office PowerPoint</Application>
  <PresentationFormat>와이드스크린</PresentationFormat>
  <Paragraphs>342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</dc:creator>
  <cp:lastModifiedBy>Office</cp:lastModifiedBy>
  <cp:revision>3</cp:revision>
  <dcterms:created xsi:type="dcterms:W3CDTF">2025-08-21T06:15:06Z</dcterms:created>
  <dcterms:modified xsi:type="dcterms:W3CDTF">2025-08-23T04:53:22Z</dcterms:modified>
</cp:coreProperties>
</file>